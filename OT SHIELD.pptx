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jiyaclare07@gmail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cap="flat" cmpd="sng" w="9525">
            <a:solidFill>
              <a:srgbClr val="F4F7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08204B"/>
          </a:solidFill>
          <a:ln cap="flat" cmpd="sng" w="9525">
            <a:solidFill>
              <a:srgbClr val="082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58368" y="822960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pc="0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OPCODE IMPACT 2026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5800" y="1572768"/>
            <a:ext cx="5394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34AADC"/>
                </a:solidFill>
                <a:latin typeface="Arial"/>
                <a:ea typeface="Arial"/>
                <a:cs typeface="Arial"/>
                <a:sym typeface="Arial"/>
              </a:rPr>
              <a:t>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2057400"/>
            <a:ext cx="53949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pc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OT-SHIELD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04088" y="2852928"/>
            <a:ext cx="53949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 IoT Cybersecurity Monitoring System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04088" y="3502152"/>
            <a:ext cx="50292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 • Alert • Respond • Keep Industry Safer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58368" y="4224528"/>
            <a:ext cx="5440680" cy="1417320"/>
          </a:xfrm>
          <a:prstGeom prst="roundRect">
            <a:avLst>
              <a:gd fmla="val 16667" name="adj"/>
            </a:avLst>
          </a:prstGeom>
          <a:solidFill>
            <a:srgbClr val="11305F"/>
          </a:solidFill>
          <a:ln cap="flat" cmpd="sng" w="9525">
            <a:solidFill>
              <a:srgbClr val="375A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96112" y="4462272"/>
            <a:ext cx="11430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993392" y="4407408"/>
            <a:ext cx="3657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NEXORA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96112" y="4956048"/>
            <a:ext cx="11430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993392" y="4882896"/>
            <a:ext cx="3657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IoT / Industrial Cybersecurity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00a9527-dbc3-41bd-a348-3e62bdc4af1b.jpeg" id="97" name="Google Shape;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438912"/>
            <a:ext cx="4343400" cy="59801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7360920" y="438912"/>
            <a:ext cx="4343400" cy="59801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635240" y="5806440"/>
            <a:ext cx="3794760" cy="384048"/>
          </a:xfrm>
          <a:prstGeom prst="roundRect">
            <a:avLst>
              <a:gd fmla="val 16667" name="adj"/>
            </a:avLst>
          </a:prstGeom>
          <a:solidFill>
            <a:srgbClr val="08204B"/>
          </a:solidFill>
          <a:ln cap="flat" cmpd="sng" w="9525">
            <a:solidFill>
              <a:srgbClr val="082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7708392" y="5879592"/>
            <a:ext cx="36393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Arial"/>
              <a:buNone/>
            </a:pPr>
            <a:r>
              <a:rPr b="1" i="0" lang="en-US" spc="0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9–10 OCTOBER 2026  •  JYOTHI ENGINEERING COLLEGE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685800" y="6236208"/>
            <a:ext cx="5486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OPCODE IMPACT 2026 • Prototype presentation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2400" y="1161288"/>
            <a:ext cx="340042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1. Problem Statement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environments need fast detection of abnormal sensor behavior.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4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2" name="Google Shape;112;p14"/>
          <p:cNvSpPr/>
          <p:nvPr/>
        </p:nvSpPr>
        <p:spPr>
          <a:xfrm>
            <a:off x="658368" y="1481328"/>
            <a:ext cx="681228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58368" y="1481328"/>
            <a:ext cx="64008" cy="132588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59536" y="1645920"/>
            <a:ext cx="6464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59536" y="2057400"/>
            <a:ext cx="646480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control systems rely on sensor readings such as temperature, pressure, motor RPM, voltage and current. Unexpected or manipulated readings can indicate equipment faults or a simulated cyberattack.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58368" y="2990088"/>
            <a:ext cx="324612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58368" y="2990088"/>
            <a:ext cx="64008" cy="205740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59536" y="3154680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Who is affected?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59525" y="3566149"/>
            <a:ext cx="28986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Industrial operators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Sensors and motor controllers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Production equipment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Plant operations and safety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087368" y="2990088"/>
            <a:ext cx="338328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087368" y="2990088"/>
            <a:ext cx="64008" cy="205740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4288525" y="3093143"/>
            <a:ext cx="287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Why does it matter?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4288525" y="3314150"/>
            <a:ext cx="32460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Abnormal readings may signal risk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Delayed response can increase downtime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Operators need clear incident details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Safer operations support sustainability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7754112" y="1481328"/>
            <a:ext cx="3822191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754112" y="1481328"/>
            <a:ext cx="64008" cy="3566160"/>
          </a:xfrm>
          <a:prstGeom prst="rect">
            <a:avLst/>
          </a:prstGeom>
          <a:solidFill>
            <a:srgbClr val="218E5B"/>
          </a:solidFill>
          <a:ln cap="flat" cmpd="sng" w="9525">
            <a:solidFill>
              <a:srgbClr val="218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7955280" y="1645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Existing Gap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7955280" y="2057400"/>
            <a:ext cx="3474720" cy="287121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Gap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basic monitoring views show sensor values but provide limited anomaly explanation, threat severity, incident context, or recommended response in one place.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OT-SHIELD combines monitoring, threshold checks, alerting and incident details in a single dashboard.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694944" y="54406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Prototype uses simulated sensor values; real plant deployment needs further validation.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4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0" name="Google Shape;130;p14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2. Proposed Solution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lightweight dashboard for monitoring industrial sensor anomalies and incidents.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5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1" name="Google Shape;141;p15"/>
          <p:cNvSpPr/>
          <p:nvPr/>
        </p:nvSpPr>
        <p:spPr>
          <a:xfrm>
            <a:off x="658368" y="1481328"/>
            <a:ext cx="10972800" cy="960120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E7F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896112" y="17190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OT-SHIELD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4572000" y="1636803"/>
            <a:ext cx="65838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Python-based prototype that simulates sensor readings, detects threshold violations, calculates threat severity and presents actionable alerts in Streamlit.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58368" y="2743200"/>
            <a:ext cx="2578608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658368" y="2743200"/>
            <a:ext cx="64008" cy="1874519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59536" y="2907792"/>
            <a:ext cx="2231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59536" y="3319272"/>
            <a:ext cx="2231136" cy="117957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sensor values and flag abnormal temperature, pressure, RPM, voltage and current.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419856" y="2743200"/>
            <a:ext cx="2578608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3419856" y="2743200"/>
            <a:ext cx="64008" cy="1874519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3621024" y="2907792"/>
            <a:ext cx="2231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Protect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3621024" y="3319272"/>
            <a:ext cx="2231136" cy="117957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predefined limits to identify suspicious or unsafe readings.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181344" y="2743200"/>
            <a:ext cx="2578608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6181344" y="2743200"/>
            <a:ext cx="64008" cy="1874519"/>
          </a:xfrm>
          <a:prstGeom prst="rect">
            <a:avLst/>
          </a:prstGeom>
          <a:solidFill>
            <a:srgbClr val="218E5B"/>
          </a:solidFill>
          <a:ln cap="flat" cmpd="sng" w="9525">
            <a:solidFill>
              <a:srgbClr val="218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382512" y="2907792"/>
            <a:ext cx="2231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Respond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382512" y="3319272"/>
            <a:ext cx="2231136" cy="117957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threat severity, incident details and recommended actions for operator review.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8942832" y="2743200"/>
            <a:ext cx="2578608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942832" y="2743200"/>
            <a:ext cx="64008" cy="1874519"/>
          </a:xfrm>
          <a:prstGeom prst="rect">
            <a:avLst/>
          </a:prstGeom>
          <a:solidFill>
            <a:srgbClr val="34AADC"/>
          </a:solidFill>
          <a:ln cap="flat" cmpd="sng" w="9525">
            <a:solidFill>
              <a:srgbClr val="34AA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9144000" y="2907792"/>
            <a:ext cx="22311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Sustain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9144000" y="3319272"/>
            <a:ext cx="2231136" cy="117957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safer industrial operations and SDG 9: Industry, Innovation and Infrastructure.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Key Innovation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2514600" y="4864950"/>
            <a:ext cx="85041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innovation: a simple, integrated view of sensor telemetry, anomaly detection, threat severity, incident history and planned Ntpy phone notifications.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15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3" name="Google Shape;163;p15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3. System Architecture &amp; Workflow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data flow from simulated sensors to monitoring and operator notification.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6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74" name="Google Shape;174;p16"/>
          <p:cNvSpPr/>
          <p:nvPr/>
        </p:nvSpPr>
        <p:spPr>
          <a:xfrm>
            <a:off x="658368" y="1417320"/>
            <a:ext cx="1097280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914400" y="201168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pc="0" sz="125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DATA / INPUT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3429000" y="201168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EEF6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pc="0" sz="125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PROCESSING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943600" y="201168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FFF5E3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pc="0" sz="125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b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8458200" y="2011680"/>
            <a:ext cx="1828800" cy="777240"/>
          </a:xfrm>
          <a:prstGeom prst="roundRect">
            <a:avLst>
              <a:gd fmla="val 16667" name="adj"/>
            </a:avLst>
          </a:prstGeom>
          <a:solidFill>
            <a:srgbClr val="EAF8F1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pc="0" sz="125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OUTPUT / ACTION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16"/>
          <p:cNvCxnSpPr/>
          <p:nvPr/>
        </p:nvCxnSpPr>
        <p:spPr>
          <a:xfrm>
            <a:off x="2743200" y="2404872"/>
            <a:ext cx="685800" cy="0"/>
          </a:xfrm>
          <a:prstGeom prst="straightConnector1">
            <a:avLst/>
          </a:prstGeom>
          <a:noFill/>
          <a:ln cap="flat" cmpd="sng" w="279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4" name="Google Shape;184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16"/>
          <p:cNvCxnSpPr/>
          <p:nvPr/>
        </p:nvCxnSpPr>
        <p:spPr>
          <a:xfrm>
            <a:off x="5257800" y="2404872"/>
            <a:ext cx="685800" cy="0"/>
          </a:xfrm>
          <a:prstGeom prst="straightConnector1">
            <a:avLst/>
          </a:prstGeom>
          <a:noFill/>
          <a:ln cap="flat" cmpd="sng" w="279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6" name="Google Shape;186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6"/>
          <p:cNvCxnSpPr/>
          <p:nvPr/>
        </p:nvCxnSpPr>
        <p:spPr>
          <a:xfrm>
            <a:off x="7772400" y="2404872"/>
            <a:ext cx="685800" cy="0"/>
          </a:xfrm>
          <a:prstGeom prst="straightConnector1">
            <a:avLst/>
          </a:prstGeom>
          <a:noFill/>
          <a:ln cap="flat" cmpd="sng" w="279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8" name="Google Shape;188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[Replace the blocks above with your actual components, technologies, APIs, databases, models, and trust boundaries.]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EE911A"/>
                </a:solidFill>
                <a:latin typeface="Arial"/>
                <a:ea typeface="Arial"/>
                <a:cs typeface="Arial"/>
                <a:sym typeface="Arial"/>
              </a:rPr>
              <a:t>Threat / Trust Boundary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6"/>
          <p:cNvCxnSpPr/>
          <p:nvPr/>
        </p:nvCxnSpPr>
        <p:spPr>
          <a:xfrm>
            <a:off x="2743200" y="4224528"/>
            <a:ext cx="7863840" cy="0"/>
          </a:xfrm>
          <a:prstGeom prst="straightConnector1">
            <a:avLst/>
          </a:prstGeom>
          <a:noFill/>
          <a:ln cap="flat" cmpd="sng" w="22850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2" name="Google Shape;192;p16"/>
          <p:cNvSpPr txBox="1"/>
          <p:nvPr/>
        </p:nvSpPr>
        <p:spPr>
          <a:xfrm>
            <a:off x="-18288000" y="-18288000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pc="0" sz="12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[Add data flow labels, encryption points, authentication, logging, or isolation controls here.]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16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4" name="Google Shape;194;p16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T-SHIELD IoT Cybersecurity Architecture(1).png" id="196" name="Google Shape;1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25880"/>
            <a:ext cx="10835640" cy="489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4. Technology Stack &amp; Security Design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choices and security considerations for the current prototype.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7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6" name="Google Shape;206;p17"/>
          <p:cNvSpPr/>
          <p:nvPr/>
        </p:nvSpPr>
        <p:spPr>
          <a:xfrm>
            <a:off x="658368" y="1444752"/>
            <a:ext cx="525780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8368" y="1444752"/>
            <a:ext cx="64008" cy="192024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859536" y="1609344"/>
            <a:ext cx="49103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859536" y="2020824"/>
            <a:ext cx="4910328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Streamlit dashboard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/ logic: Python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data: Simulated industrial readings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Storage: Incident history planned (e.g., SQLite)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Notifications: Ntpy integration planned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153912" y="1444752"/>
            <a:ext cx="5477256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153912" y="1444752"/>
            <a:ext cx="64008" cy="192024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6355080" y="1609344"/>
            <a:ext cx="5129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Security Controls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6355080" y="2020824"/>
            <a:ext cx="5129784" cy="12252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Detection: Threshold-based anomaly checks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Severity: Rule-based threat score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action: Recommended response steps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Logging: Incident details shown in dashboard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Deployment: Prototype; not yet validated on live OT devices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685800" y="37673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Security-by-design checklist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777240" y="431596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914400" y="441655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1280160" y="442569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 privilege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4434840" y="431596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4572000" y="441655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4937759" y="442569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Careful data handling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8092440" y="431596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8229600" y="441655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8595360" y="442569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77240" y="504748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914400" y="514807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280160" y="515721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 API credentials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4434840" y="504748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572000" y="514807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937759" y="515721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traceability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8092440" y="5047488"/>
            <a:ext cx="324612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8229600" y="514807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218E5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8595360" y="5157216"/>
            <a:ext cx="25146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recovery paths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7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17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5. SDG Alignment &amp; Societal Impact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OT-SHIELD supports more resilient and safer industrial operations.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18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5" name="Google Shape;245;p18"/>
          <p:cNvSpPr/>
          <p:nvPr/>
        </p:nvSpPr>
        <p:spPr>
          <a:xfrm>
            <a:off x="658368" y="1417320"/>
            <a:ext cx="3703320" cy="4526280"/>
          </a:xfrm>
          <a:prstGeom prst="roundRect">
            <a:avLst>
              <a:gd fmla="val 16667" name="adj"/>
            </a:avLst>
          </a:prstGeom>
          <a:solidFill>
            <a:srgbClr val="08204B"/>
          </a:solidFill>
          <a:ln cap="flat" cmpd="sng" w="9525">
            <a:solidFill>
              <a:srgbClr val="082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914400" y="175564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100" u="none" cap="none" strike="noStrike">
                <a:solidFill>
                  <a:srgbClr val="34AADC"/>
                </a:solidFill>
                <a:latin typeface="Arial"/>
                <a:ea typeface="Arial"/>
                <a:cs typeface="Arial"/>
                <a:sym typeface="Arial"/>
              </a:rPr>
              <a:t>PRIMARY SDG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914400" y="2240280"/>
            <a:ext cx="31548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pc="0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SDG 9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914400" y="2926080"/>
            <a:ext cx="31548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Industry, Innovation and Infrastructure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960120" y="3794760"/>
            <a:ext cx="30633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Improves awareness of abnormal industrial sensor behavior and supports more resilient infrastructure through monitoring and incident response.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4736592" y="1417320"/>
            <a:ext cx="3246120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4736592" y="1417320"/>
            <a:ext cx="64008" cy="214884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4937759" y="1581912"/>
            <a:ext cx="2898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Security Impact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4937759" y="1993392"/>
            <a:ext cx="2898648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Flags out-of-range sensor readings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threat severity context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Surfaces recommended operator actions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organize incident information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229600" y="1417320"/>
            <a:ext cx="3401568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8229600" y="1417320"/>
            <a:ext cx="64008" cy="2148840"/>
          </a:xfrm>
          <a:prstGeom prst="rect">
            <a:avLst/>
          </a:prstGeom>
          <a:solidFill>
            <a:srgbClr val="218E5B"/>
          </a:solidFill>
          <a:ln cap="flat" cmpd="sng" w="9525">
            <a:solidFill>
              <a:srgbClr val="218E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8430768" y="1581912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Social / Environmental Impact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8430768" y="1993392"/>
            <a:ext cx="3054096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operators benefit from clearer alerts. Earlier awareness may help reduce avoidable equipment disruption and support safer, more reliable operations.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36592" y="3794760"/>
            <a:ext cx="6894576" cy="2148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4736592" y="3794760"/>
            <a:ext cx="64008" cy="214884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4937759" y="3959352"/>
            <a:ext cx="65471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Impact Metrics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4937759" y="4370832"/>
            <a:ext cx="654710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evidence: dashboard demonstrates normal readings and a simulated critical incident.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 not yet benchmarked: detection accuracy, false-positive rate and response time.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Baseline: manual review  →  Prototype: automated threshold checks  →  Target: validated real-time monitoring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18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18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6. Prototype / Demo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evidence from normal monitoring and simulated attack scenarios.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19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4" name="Google Shape;274;p19"/>
          <p:cNvSpPr/>
          <p:nvPr/>
        </p:nvSpPr>
        <p:spPr>
          <a:xfrm>
            <a:off x="658368" y="1481328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822959" y="1755648"/>
            <a:ext cx="3072384" cy="2084831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F4F7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1252728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MONITORING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069848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readings in normal range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841247" y="45262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dashboard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361688" y="1481328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4526279" y="1755648"/>
            <a:ext cx="3072384" cy="2084831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F4F7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4956048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SIMULATED ATTACK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773168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values trigger alerts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4544568" y="45262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and processing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8065008" y="1481328"/>
            <a:ext cx="3401568" cy="2880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8229600" y="1755648"/>
            <a:ext cx="3072384" cy="2084831"/>
          </a:xfrm>
          <a:prstGeom prst="roundRect">
            <a:avLst>
              <a:gd fmla="val 16667" name="adj"/>
            </a:avLst>
          </a:prstGeom>
          <a:solidFill>
            <a:srgbClr val="F4F7FB"/>
          </a:solidFill>
          <a:ln cap="flat" cmpd="sng" w="9525">
            <a:solidFill>
              <a:srgbClr val="F4F7F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8659368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DETAILS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8476488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level and response steps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8247888" y="45262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/ response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58375" y="5036500"/>
            <a:ext cx="10954500" cy="105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658368" y="4754880"/>
            <a:ext cx="64008" cy="105156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859536" y="491947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Demo Highlight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859536" y="5330952"/>
            <a:ext cx="10607040" cy="35661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highlight: clicking “Simulate Cyber Attack” changes sensor values, raises a cyberattack alert, lists detected problems, assigns CRITICAL severity and displays incident details and recommended actions.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9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4" name="Google Shape;294;p19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749808" y="141732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B9D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g op.png" id="297" name="Google Shape;2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0" y="1543025"/>
            <a:ext cx="3401551" cy="25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9"/>
          <p:cNvSpPr/>
          <p:nvPr/>
        </p:nvSpPr>
        <p:spPr>
          <a:xfrm>
            <a:off x="4370832" y="141732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B9D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g op2.png" id="299" name="Google Shape;2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0825" y="1692400"/>
            <a:ext cx="3428999" cy="257252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9"/>
          <p:cNvSpPr/>
          <p:nvPr/>
        </p:nvSpPr>
        <p:spPr>
          <a:xfrm>
            <a:off x="7991856" y="1417320"/>
            <a:ext cx="3429000" cy="242316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9525">
            <a:solidFill>
              <a:srgbClr val="B9D7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g op3.png" id="301" name="Google Shape;3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1850" y="1680250"/>
            <a:ext cx="3428998" cy="257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7. Results &amp; Evaluation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Qualitative validation from the current simulated prototype.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20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20"/>
          <p:cNvSpPr/>
          <p:nvPr/>
        </p:nvSpPr>
        <p:spPr>
          <a:xfrm>
            <a:off x="658368" y="1481328"/>
            <a:ext cx="257860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822959" y="17190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 behavior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822959" y="2103120"/>
            <a:ext cx="2240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pc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Threshold-based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3419856" y="1481328"/>
            <a:ext cx="257860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584448" y="17190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3584448" y="2103120"/>
            <a:ext cx="2240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pc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alert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6181344" y="1481328"/>
            <a:ext cx="257860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6345936" y="17190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 severity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6345936" y="2103120"/>
            <a:ext cx="2240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pc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shown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8942832" y="1481328"/>
            <a:ext cx="2578608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9107424" y="17190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environment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9107424" y="2103120"/>
            <a:ext cx="2240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Simulated sensors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58375" y="3246125"/>
            <a:ext cx="5321700" cy="224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658368" y="3246120"/>
            <a:ext cx="64008" cy="224028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859525" y="3279739"/>
            <a:ext cx="497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Test Setup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859525" y="3584550"/>
            <a:ext cx="4974300" cy="18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Environment: Streamlit dashboard with Python-generated sensor values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cases: Normal readings and simulated multi-parameter manipulation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Observed output: abnormal temperature, pressure, motor speed, voltage and current are listed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example: OT-001; Motor Controller 01; Production Unit A; status Under Investigation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6199632" y="3246120"/>
            <a:ext cx="5413248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6199632" y="3246120"/>
            <a:ext cx="64008" cy="2240280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6400800" y="3410712"/>
            <a:ext cx="50657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Limitations / Risks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6400800" y="3822191"/>
            <a:ext cx="5065776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formal accuracy benchmark yet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Values are simulated, not live PLC/sensor data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Threshold rules may need tuning per machine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Ntpy delivery is shown as planned integration; validate end-to-end delivery before deployment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20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2" name="Google Shape;332;p20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8. Future Scope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Roadmap from a simulated demo toward a validated industrial monitoring tool.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3" name="Google Shape;343;p21"/>
          <p:cNvSpPr/>
          <p:nvPr/>
        </p:nvSpPr>
        <p:spPr>
          <a:xfrm>
            <a:off x="658368" y="160020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841247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841247" y="22677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21"/>
          <p:cNvCxnSpPr/>
          <p:nvPr/>
        </p:nvCxnSpPr>
        <p:spPr>
          <a:xfrm>
            <a:off x="1042415" y="2880360"/>
            <a:ext cx="1746505" cy="0"/>
          </a:xfrm>
          <a:prstGeom prst="straightConnector1">
            <a:avLst/>
          </a:prstGeom>
          <a:noFill/>
          <a:ln cap="flat" cmpd="sng" w="2157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7" name="Google Shape;347;p21"/>
          <p:cNvSpPr txBox="1"/>
          <p:nvPr/>
        </p:nvSpPr>
        <p:spPr>
          <a:xfrm>
            <a:off x="932700" y="3129324"/>
            <a:ext cx="19659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+ Streamlit prototype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simulation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 alerts and incident details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3419856" y="160020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3602736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3602736" y="22677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Pilot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1"/>
          <p:cNvCxnSpPr/>
          <p:nvPr/>
        </p:nvCxnSpPr>
        <p:spPr>
          <a:xfrm>
            <a:off x="3803904" y="2880360"/>
            <a:ext cx="1746504" cy="0"/>
          </a:xfrm>
          <a:prstGeom prst="straightConnector1">
            <a:avLst/>
          </a:prstGeom>
          <a:noFill/>
          <a:ln cap="flat" cmpd="sng" w="2157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2" name="Google Shape;352;p21"/>
          <p:cNvSpPr txBox="1"/>
          <p:nvPr/>
        </p:nvSpPr>
        <p:spPr>
          <a:xfrm>
            <a:off x="3694175" y="3092149"/>
            <a:ext cx="19659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real or replayed sensor data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Tune thresholds with domain experts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false positives and response time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6181344" y="160020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6364224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364224" y="22677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21"/>
          <p:cNvCxnSpPr/>
          <p:nvPr/>
        </p:nvCxnSpPr>
        <p:spPr>
          <a:xfrm>
            <a:off x="6565392" y="2880360"/>
            <a:ext cx="1746504" cy="0"/>
          </a:xfrm>
          <a:prstGeom prst="straightConnector1">
            <a:avLst/>
          </a:prstGeom>
          <a:noFill/>
          <a:ln cap="flat" cmpd="sng" w="2157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7" name="Google Shape;357;p21"/>
          <p:cNvSpPr txBox="1"/>
          <p:nvPr/>
        </p:nvSpPr>
        <p:spPr>
          <a:xfrm>
            <a:off x="6455675" y="3129324"/>
            <a:ext cx="19659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 incident history in SQLite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and test Ntpy notifications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authenticated operator access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8942832" y="160020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9125712" y="18288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pc="0" sz="9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BEYOND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9125712" y="2267712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21"/>
          <p:cNvCxnSpPr/>
          <p:nvPr/>
        </p:nvCxnSpPr>
        <p:spPr>
          <a:xfrm>
            <a:off x="9326880" y="2880360"/>
            <a:ext cx="1746504" cy="0"/>
          </a:xfrm>
          <a:prstGeom prst="straightConnector1">
            <a:avLst/>
          </a:prstGeom>
          <a:noFill/>
          <a:ln cap="flat" cmpd="sng" w="2157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2" name="Google Shape;362;p21"/>
          <p:cNvSpPr txBox="1"/>
          <p:nvPr/>
        </p:nvSpPr>
        <p:spPr>
          <a:xfrm>
            <a:off x="9217150" y="3129324"/>
            <a:ext cx="19659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with isolated test equipment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audit logs and secure secrets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resilience and SDG outcomes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822960" y="51663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Long-term vision: make industrial anomalies easier to detect, understand and respond to—without disrupting critical operations.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" name="Google Shape;364;p21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5" name="Google Shape;365;p21"/>
          <p:cNvSpPr txBox="1"/>
          <p:nvPr/>
        </p:nvSpPr>
        <p:spPr>
          <a:xfrm>
            <a:off x="594360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594360" y="384048"/>
            <a:ext cx="8869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pc="0" sz="27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9. Team &amp; Responsibilities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612648" y="859536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placeholders with your actual team members and contact details.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10058400" y="411480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22"/>
          <p:cNvCxnSpPr/>
          <p:nvPr/>
        </p:nvCxnSpPr>
        <p:spPr>
          <a:xfrm>
            <a:off x="594360" y="1170432"/>
            <a:ext cx="11000232" cy="0"/>
          </a:xfrm>
          <a:prstGeom prst="straightConnector1">
            <a:avLst/>
          </a:prstGeom>
          <a:noFill/>
          <a:ln cap="flat" cmpd="sng" w="1270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6" name="Google Shape;376;p22"/>
          <p:cNvSpPr/>
          <p:nvPr/>
        </p:nvSpPr>
        <p:spPr>
          <a:xfrm>
            <a:off x="658368" y="150876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1444752" y="1810512"/>
            <a:ext cx="941832" cy="941832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1600200" y="2020824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859536" y="29992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MEMBER 01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841247" y="3337560"/>
            <a:ext cx="214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JIYA CLARE GIGI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859536" y="37947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Lead / Integration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3419856" y="150876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206240" y="1810512"/>
            <a:ext cx="941832" cy="941832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4361688" y="2020824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3621024" y="29992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MEMBER 02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3172975" y="3373500"/>
            <a:ext cx="319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KRISHNA PRADHA C J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3625663" y="3766911"/>
            <a:ext cx="21030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Backend / Detection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181344" y="150876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6967728" y="1810512"/>
            <a:ext cx="941832" cy="941832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7123176" y="2020824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6382512" y="29992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MEMBER 03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6344169" y="3429000"/>
            <a:ext cx="21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JOHN FRANCY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382512" y="37947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/ UI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8942832" y="1508760"/>
            <a:ext cx="25146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9729216" y="1810512"/>
            <a:ext cx="941832" cy="941832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9884664" y="2020824"/>
            <a:ext cx="62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pc="0" sz="22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9144000" y="299923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pc="0" sz="85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MEMBER 04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9125712" y="3337560"/>
            <a:ext cx="214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SEBIN JOHNY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9144000" y="379476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/ Documentation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658368" y="4800600"/>
            <a:ext cx="1097280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58368" y="4800600"/>
            <a:ext cx="64008" cy="914400"/>
          </a:xfrm>
          <a:prstGeom prst="rect">
            <a:avLst/>
          </a:prstGeom>
          <a:solidFill>
            <a:srgbClr val="1460BE"/>
          </a:solidFill>
          <a:ln cap="flat" cmpd="sng" w="9525">
            <a:solidFill>
              <a:srgbClr val="1460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859536" y="4965192"/>
            <a:ext cx="106253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8204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859536" y="5376672"/>
            <a:ext cx="106254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i="0" lang="en-US" spc="0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jiyaclare07@gmail.com</a:t>
            </a:r>
            <a:r>
              <a:rPr b="0" i="0" lang="en-US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|   GitHub / Demo: https://github.com/jiyaclare23/NEXORA.git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22"/>
          <p:cNvCxnSpPr/>
          <p:nvPr/>
        </p:nvCxnSpPr>
        <p:spPr>
          <a:xfrm>
            <a:off x="594360" y="6473952"/>
            <a:ext cx="11000232" cy="0"/>
          </a:xfrm>
          <a:prstGeom prst="straightConnector1">
            <a:avLst/>
          </a:prstGeom>
          <a:noFill/>
          <a:ln cap="flat" cmpd="sng" w="10150">
            <a:solidFill>
              <a:srgbClr val="D2DC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5" name="Google Shape;405;p22"/>
          <p:cNvSpPr txBox="1"/>
          <p:nvPr/>
        </p:nvSpPr>
        <p:spPr>
          <a:xfrm>
            <a:off x="594350" y="5785729"/>
            <a:ext cx="6378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pc="0" sz="750" u="none" cap="none" strike="noStrike">
                <a:solidFill>
                  <a:srgbClr val="5C697A"/>
                </a:solidFill>
                <a:latin typeface="Arial"/>
                <a:ea typeface="Arial"/>
                <a:cs typeface="Arial"/>
                <a:sym typeface="Arial"/>
              </a:rPr>
              <a:t>OPCODE IMPACT 2026  •  24-Hour National Level Hackathon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pc="0" sz="800" u="none" cap="none" strike="noStrike">
                <a:solidFill>
                  <a:srgbClr val="1460BE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B"/>
          </a:solidFill>
          <a:ln cap="flat" cmpd="sng" w="9525">
            <a:solidFill>
              <a:srgbClr val="082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E911A"/>
          </a:solidFill>
          <a:ln cap="flat" cmpd="sng" w="95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pc="0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pc="0" sz="2000" u="none" cap="none" strike="noStrike">
                <a:solidFill>
                  <a:srgbClr val="34AADC"/>
                </a:solidFill>
                <a:latin typeface="Arial"/>
                <a:ea typeface="Arial"/>
                <a:cs typeface="Arial"/>
                <a:sym typeface="Arial"/>
              </a:rPr>
              <a:t>Secure Today, Sustain Tomorrow.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23"/>
          <p:cNvCxnSpPr/>
          <p:nvPr/>
        </p:nvCxnSpPr>
        <p:spPr>
          <a:xfrm>
            <a:off x="3840480" y="2606040"/>
            <a:ext cx="4507992" cy="0"/>
          </a:xfrm>
          <a:prstGeom prst="straightConnector1">
            <a:avLst/>
          </a:prstGeom>
          <a:noFill/>
          <a:ln cap="flat" cmpd="sng" w="27925">
            <a:solidFill>
              <a:srgbClr val="EE911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6" name="Google Shape;416;p23"/>
          <p:cNvSpPr txBox="1"/>
          <p:nvPr/>
        </p:nvSpPr>
        <p:spPr>
          <a:xfrm>
            <a:off x="731520" y="2971800"/>
            <a:ext cx="10698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OT-SHIELD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3"/>
          <p:cNvSpPr txBox="1"/>
          <p:nvPr/>
        </p:nvSpPr>
        <p:spPr>
          <a:xfrm>
            <a:off x="731520" y="3657600"/>
            <a:ext cx="106986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Team: NEXORE   •   Track: IoT / Industrial Cybersecurity</a:t>
            </a:r>
            <a:endParaRPr b="0" i="0" spc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B9CDE8"/>
                </a:solidFill>
                <a:latin typeface="Arial"/>
                <a:ea typeface="Arial"/>
                <a:cs typeface="Arial"/>
                <a:sym typeface="Arial"/>
              </a:rPr>
              <a:t>OPCODE IMPACT 2026  |  9–10 October 2026  |  Jyothi Engineering College (Autonomous)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EE911A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